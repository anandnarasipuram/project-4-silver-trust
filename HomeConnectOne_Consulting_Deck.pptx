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01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30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5170"/>
  </p:normalViewPr>
  <p:slideViewPr>
    <p:cSldViewPr snapToGrid="0" snapToObjects="1">
      <p:cViewPr varScale="1">
        <p:scale>
          <a:sx n="153" d="100"/>
          <a:sy n="153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90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Frame this as a discipline slide, not a limitations slide: we deliberately drew a tight boundary so the pilot can prove value in weeks, not quarters.</a:t>
            </a:r>
          </a:p>
          <a:p>
            <a:r>
              <a:rPr lang="en-GB" dirty="0"/>
              <a:t>Network / router issues: the single most common on-site failure point, but the home network sits outside HomeConnect's control. We log and route these, we don't try to own them.</a:t>
            </a:r>
          </a:p>
          <a:p>
            <a:r>
              <a:rPr lang="en-GB" dirty="0"/>
              <a:t>DIY self-serve UX: real demand from less-technical customers, but this is a product-direction bet with its own roadmap and funding — not an efficiency lever for this engagement.</a:t>
            </a:r>
          </a:p>
          <a:p>
            <a:r>
              <a:rPr lang="en-GB" dirty="0"/>
              <a:t>Device-level AI: vendor-led by design. HomeConnect adapts as vendors ship; building here would duplicate spend and lock us to today's hardware.</a:t>
            </a:r>
          </a:p>
          <a:p>
            <a:r>
              <a:rPr lang="en-GB" dirty="0"/>
              <a:t>Landing point: everything out of scope is documented, not dismissed — each can be revisited once the pilot results are in.</a:t>
            </a:r>
          </a:p>
          <a:p>
            <a:r>
              <a:rPr lang="en-GB" dirty="0"/>
              <a:t>Likely question: 'Isn't router support the biggest pain?' Answer: yes, which is why it's tracked as a measured exclusion with a hand-off path, not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081120"/>
            </a:gs>
            <a:gs pos="55000">
              <a:srgbClr val="0C1E39"/>
            </a:gs>
            <a:gs pos="100000">
              <a:srgbClr val="12315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73152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607040" y="118872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9509760" y="17373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1155680" y="8229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149840" y="21945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1430000" y="182880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25500" y="711200"/>
            <a:ext cx="1092200" cy="1092200"/>
          </a:xfrm>
          <a:prstGeom prst="ellipse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9" name="Image 0" descr="/home/claude/icons/title.png"/>
          <p:cNvPicPr>
            <a:picLocks noChangeAspect="1"/>
          </p:cNvPicPr>
          <p:nvPr/>
        </p:nvPicPr>
        <p:blipFill>
          <a:blip r:embed="rId3">
            <a:duotone>
              <a:srgbClr val="22D3EE"/>
              <a:srgbClr val="22D3EE"/>
            </a:duotone>
          </a:blip>
          <a:stretch>
            <a:fillRect/>
          </a:stretch>
        </p:blipFill>
        <p:spPr>
          <a:xfrm>
            <a:off x="1066800" y="952500"/>
            <a:ext cx="609600" cy="609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5500" y="2235200"/>
            <a:ext cx="5461000" cy="36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TRUST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5500" y="2590800"/>
            <a:ext cx="5461000" cy="82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HomeConnect One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25500" y="3454400"/>
            <a:ext cx="546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Operations — Consulting Proposal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5500" y="4140200"/>
            <a:ext cx="3810000" cy="12700"/>
          </a:xfrm>
          <a:prstGeom prst="rect">
            <a:avLst/>
          </a:prstGeom>
          <a:solidFill>
            <a:srgbClr val="2B44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825500" y="4343400"/>
            <a:ext cx="5461000" cy="36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Papachristophorou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5500" y="4711700"/>
            <a:ext cx="5461000" cy="36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Consultant: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Narasipuram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Date"/>
          <p:cNvSpPr/>
          <p:nvPr/>
        </p:nvSpPr>
        <p:spPr>
          <a:xfrm>
            <a:off x="825500" y="5080000"/>
            <a:ext cx="5461000" cy="36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27 August 2026</a:t>
            </a:r>
            <a:endParaRPr lang="en-US" sz="1400" dirty="0"/>
          </a:p>
        </p:txBody>
      </p:sp>
      <p:pic>
        <p:nvPicPr>
          <p:cNvPr id="18" name="Picture 17" descr="You are currently viewing The benefits and risks of home automation for everyday life">
            <a:extLst>
              <a:ext uri="{FF2B5EF4-FFF2-40B4-BE49-F238E27FC236}">
                <a16:creationId xmlns:a16="http://schemas.microsoft.com/office/drawing/2014/main" id="{43209692-4E23-D781-6A0A-B57FCA565F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144"/>
          <a:stretch>
            <a:fillRect/>
          </a:stretch>
        </p:blipFill>
        <p:spPr>
          <a:xfrm>
            <a:off x="6603999" y="2349500"/>
            <a:ext cx="5356045" cy="3548380"/>
          </a:xfrm>
          <a:prstGeom prst="rect">
            <a:avLst/>
          </a:prstGeom>
          <a:effectLst>
            <a:softEdge rad="838200"/>
          </a:effectLst>
        </p:spPr>
      </p:pic>
    </p:spTree>
    <p:extLst>
      <p:ext uri="{BB962C8B-B14F-4D97-AF65-F5344CB8AC3E}">
        <p14:creationId xmlns:p14="http://schemas.microsoft.com/office/powerpoint/2010/main" val="196157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heard.png"/>
          <p:cNvPicPr>
            <a:picLocks noChangeAspect="1"/>
          </p:cNvPicPr>
          <p:nvPr/>
        </p:nvPicPr>
        <p:blipFill>
          <a:blip r:embed="rId3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FINDINGS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Picture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they 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German smart home integrator — consultation, integration &amp; platform management. Not a device manufacturer.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driven by energy-efficiency mandates, rising energy prices, and environmental awareness among homeowners.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868680" y="4251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they serve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47091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base has shifted from tech-savvy early adopters to a broader, less technical residential audience.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4023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446520" y="4251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stated goal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47091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operational efficiency — not revenue growth. Growth is already happening on its own.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5757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problem1.png"/>
          <p:cNvPicPr>
            <a:picLocks noChangeAspect="1"/>
          </p:cNvPicPr>
          <p:nvPr/>
        </p:nvPicPr>
        <p:blipFill>
          <a:blip r:embed="rId3">
            <a:duotone>
              <a:srgbClr val="C2185B"/>
              <a:srgbClr val="C2185B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OF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Ticket Triage Is Consuming the Team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 team time spent on actual roadmap 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goes to manually classifying every incoming ticket.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6720" y="2226564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4526280" y="1833372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— chat, forum, email, installer feedback — is manually classified as support / defect / roadmap before it reaches the right team.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299008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4526280" y="2734056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delays before an issue reaches the correct team; new product issues can take over a month to resolve.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376732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4526280" y="3511296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worse with every new device type — each ticket needs device-specific knowledge to classify correctly.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51960" y="454456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4526280" y="4151376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HomeConnect's own estimate: doubling third-party APIs next year (their stated growth direction) would overwhelm this process and force a full product redesign they don't have bandwidth for.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600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problem2.png"/>
          <p:cNvPicPr>
            <a:picLocks noChangeAspect="1"/>
          </p:cNvPicPr>
          <p:nvPr/>
        </p:nvPicPr>
        <p:blipFill>
          <a:blip r:embed="rId3">
            <a:duotone>
              <a:srgbClr val="C2185B"/>
              <a:srgbClr val="C2185B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OF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Installer Availability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86868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Outsourced, non-exclusive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5059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runs through a freelance agency with no exclusivity — installers may work with other companies or clients simultaneously.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662940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oversight tooling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245059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who's available, where, and with what specialization before a job is assigned.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868680" y="41330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Commitments fall through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455371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Installers sometimes commit and fail to deliver or turn out unsuited for the job once on-site.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629400" y="41330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 customer risk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29400" y="455371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late installs cause complaints — and frustrated customers are more likely to escalate again later.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229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soluti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Ticket Triage &amp; Routing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777240" y="20939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777240" y="2093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8745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tickets from all channels — chat, forum, email, installer reports — into one pipeline.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777240" y="314553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777240" y="3145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292608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ticket against device metadata and historical resolution patterns.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777240" y="419709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777240" y="4197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17320" y="39776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straightforward cases directly to support, engineering, or the roadmap queue.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6"/>
          <p:cNvSpPr/>
          <p:nvPr/>
        </p:nvSpPr>
        <p:spPr>
          <a:xfrm>
            <a:off x="777240" y="524865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77724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17320" y="502920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only ambiguous or genuinely novel cases for human review — the team stays in control.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5237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solution2.png"/>
          <p:cNvPicPr>
            <a:picLocks noChangeAspect="1"/>
          </p:cNvPicPr>
          <p:nvPr/>
        </p:nvPicPr>
        <p:blipFill>
          <a:blip r:embed="rId3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Oversight Dashboard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1" descr="/home/claude/icons/check.png"/>
          <p:cNvPicPr>
            <a:picLocks noChangeAspect="1"/>
          </p:cNvPicPr>
          <p:nvPr/>
        </p:nvPicPr>
        <p:blipFill>
          <a:blip r:embed="rId4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923544" y="21854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2996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installer availability, specialization, and geographic coverage.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7"/>
          <p:cNvSpPr/>
          <p:nvPr/>
        </p:nvSpPr>
        <p:spPr>
          <a:xfrm>
            <a:off x="6583680" y="20848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2" descr="/home/claude/icons/check.png"/>
          <p:cNvPicPr>
            <a:picLocks noChangeAspect="1"/>
          </p:cNvPicPr>
          <p:nvPr/>
        </p:nvPicPr>
        <p:blipFill>
          <a:blip r:embed="rId4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6684264" y="218541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202996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active assignments so double-booking and last-minute gaps surface early.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0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3" descr="/home/claude/icons/check.png"/>
          <p:cNvPicPr>
            <a:picLocks noChangeAspect="1"/>
          </p:cNvPicPr>
          <p:nvPr/>
        </p:nvPicPr>
        <p:blipFill>
          <a:blip r:embed="rId4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923544" y="428853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13308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data HomeConnect and its agency partners already collect — no new infrastructure.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3"/>
          <p:cNvSpPr/>
          <p:nvPr/>
        </p:nvSpPr>
        <p:spPr>
          <a:xfrm>
            <a:off x="6583680" y="4187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0" name="Image 4" descr="/home/claude/icons/check.png"/>
          <p:cNvPicPr>
            <a:picLocks noChangeAspect="1"/>
          </p:cNvPicPr>
          <p:nvPr/>
        </p:nvPicPr>
        <p:blipFill>
          <a:blip r:embed="rId4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6684264" y="428853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23760" y="413308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failed or late installs — and the downstream customer complaints they cause.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1001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notdoing.png"/>
          <p:cNvPicPr>
            <a:picLocks noChangeAspect="1"/>
          </p:cNvPicPr>
          <p:nvPr/>
        </p:nvPicPr>
        <p:blipFill>
          <a:blip r:embed="rId3">
            <a:duotone>
              <a:srgbClr val="9A6A00"/>
              <a:srgbClr val="9A6A00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Not Doing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194310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1" descr="/home/claude/icons/notdoing.png"/>
          <p:cNvPicPr>
            <a:picLocks noChangeAspect="1"/>
          </p:cNvPicPr>
          <p:nvPr/>
        </p:nvPicPr>
        <p:blipFill>
          <a:blip r:embed="rId3">
            <a:duotone>
              <a:srgbClr val="9A6A00"/>
              <a:srgbClr val="9A6A00"/>
            </a:duotone>
          </a:blip>
          <a:stretch>
            <a:fillRect/>
          </a:stretch>
        </p:blipFill>
        <p:spPr>
          <a:xfrm>
            <a:off x="2104034" y="2401214"/>
            <a:ext cx="409651" cy="409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/ router issues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on-site failure point — but outside HomeConnect's direct control.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891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8"/>
          <p:cNvSpPr/>
          <p:nvPr/>
        </p:nvSpPr>
        <p:spPr>
          <a:xfrm>
            <a:off x="578358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2" descr="/home/claude/icons/notdoing.png"/>
          <p:cNvPicPr>
            <a:picLocks noChangeAspect="1"/>
          </p:cNvPicPr>
          <p:nvPr/>
        </p:nvPicPr>
        <p:blipFill>
          <a:blip r:embed="rId3">
            <a:duotone>
              <a:srgbClr val="9A6A00"/>
              <a:srgbClr val="9A6A00"/>
            </a:duotone>
          </a:blip>
          <a:stretch>
            <a:fillRect/>
          </a:stretch>
        </p:blipFill>
        <p:spPr>
          <a:xfrm>
            <a:off x="5944514" y="240121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DIY self-serve UX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demand from less-technical customers, but a separate product-direction initiative, not an efficiency fix.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2"/>
          <p:cNvSpPr/>
          <p:nvPr/>
        </p:nvSpPr>
        <p:spPr>
          <a:xfrm>
            <a:off x="962406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3" descr="/home/claude/icons/notdoing.png"/>
          <p:cNvPicPr>
            <a:picLocks noChangeAspect="1"/>
          </p:cNvPicPr>
          <p:nvPr/>
        </p:nvPicPr>
        <p:blipFill>
          <a:blip r:embed="rId3">
            <a:duotone>
              <a:srgbClr val="9A6A00"/>
              <a:srgbClr val="9A6A00"/>
            </a:duotone>
          </a:blip>
          <a:stretch>
            <a:fillRect/>
          </a:stretch>
        </p:blipFill>
        <p:spPr>
          <a:xfrm>
            <a:off x="9784994" y="240121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392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Device-level AI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50392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Vendor-led by design — HomeConnect adapts to it but doesn't build it.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focus — scoped tightly so the pilot proves value fast.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4416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/home/claude/icons/ask.png"/>
          <p:cNvPicPr>
            <a:picLocks noChangeAspect="1"/>
          </p:cNvPicPr>
          <p:nvPr/>
        </p:nvPicPr>
        <p:blipFill>
          <a:blip r:embed="rId3">
            <a:duotone>
              <a:srgbClr val="0E7490"/>
              <a:srgbClr val="0E7490"/>
            </a:duotone>
          </a:blip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 4–6 Week Pilot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2F6F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1 — Triage Automation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2–3 top device categories
</a:t>
            </a: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time-to-correct-routing, resolution-time change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749040"/>
            <a:ext cx="4754880" cy="13716"/>
          </a:xfrm>
          <a:prstGeom prst="rect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2 — Installer Oversight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4389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tracking view from existing agency data
</a:t>
            </a: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reduction in failed/late installations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87452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3796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Green-light the pilot scope on both tracks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37960" y="3566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Reviewed in your existing daily cross-functional meeting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4343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4–6 weeks, then decide together whether to expand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4955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081120"/>
            </a:gs>
            <a:gs pos="55000">
              <a:srgbClr val="0C1E39"/>
            </a:gs>
            <a:gs pos="100000">
              <a:srgbClr val="12315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73152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607040" y="118872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9509760" y="17373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1155680" y="8229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149840" y="219456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1430000" y="182880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9" name="Image 0" descr="/home/claude/icons/title.png"/>
          <p:cNvPicPr>
            <a:picLocks noChangeAspect="1"/>
          </p:cNvPicPr>
          <p:nvPr/>
        </p:nvPicPr>
        <p:blipFill>
          <a:blip r:embed="rId3">
            <a:duotone>
              <a:srgbClr val="22D3EE"/>
              <a:srgbClr val="22D3EE"/>
            </a:duotone>
          </a:blip>
          <a:stretch>
            <a:fillRect/>
          </a:stretch>
        </p:blipFill>
        <p:spPr>
          <a:xfrm>
            <a:off x="1124712" y="2633472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60320" y="2697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256032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go deeper on scope, timeline, or success metrics.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560320" y="4114800"/>
            <a:ext cx="4206240" cy="18288"/>
          </a:xfrm>
          <a:prstGeom prst="rect">
            <a:avLst/>
          </a:prstGeom>
          <a:solidFill>
            <a:srgbClr val="2B44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25603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Papachristophorou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6032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Consultant: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Narasipuram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HomeConnect One · Silver Trust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8" name="Graphic 18" descr="Connected smart home with Wi-Fi sig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3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E5F1F9-6832-C34D-AC97-23DB6E3A571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564ff6b-260a-4243-9d2a-543ecd8a9c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876</Words>
  <Application>Microsoft Macintosh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N</cp:lastModifiedBy>
  <cp:revision>3</cp:revision>
  <dcterms:created xsi:type="dcterms:W3CDTF">2026-08-26T13:12:41Z</dcterms:created>
  <dcterms:modified xsi:type="dcterms:W3CDTF">2026-08-27T08:05:32Z</dcterms:modified>
</cp:coreProperties>
</file>